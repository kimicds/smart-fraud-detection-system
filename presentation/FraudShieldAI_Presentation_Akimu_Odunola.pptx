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5" d="100"/>
          <a:sy n="65" d="100"/>
        </p:scale>
        <p:origin x="-672" y="-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221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Transfer</c:v>
                </c:pt>
                <c:pt idx="1">
                  <c:v>Cash 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4921728"/>
        <c:axId val="484924416"/>
      </c:barChart>
      <c:catAx>
        <c:axId val="484921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484924416"/>
        <c:crosses val="autoZero"/>
        <c:auto val="1"/>
        <c:lblAlgn val="ctr"/>
        <c:lblOffset val="100"/>
        <c:noMultiLvlLbl val="1"/>
      </c:catAx>
      <c:valAx>
        <c:axId val="48492441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48492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CatBoost</c:v>
                </c:pt>
                <c:pt idx="3">
                  <c:v>LightGBM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0.999</c:v>
                </c:pt>
                <c:pt idx="1">
                  <c:v>0.999</c:v>
                </c:pt>
                <c:pt idx="2">
                  <c:v>0.999</c:v>
                </c:pt>
                <c:pt idx="3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1A3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CatBoost</c:v>
                </c:pt>
                <c:pt idx="3">
                  <c:v>LightGBM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0.86</c:v>
                </c:pt>
                <c:pt idx="2">
                  <c:v>0.89</c:v>
                </c:pt>
                <c:pt idx="3">
                  <c:v>0.42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83475712"/>
        <c:axId val="683478016"/>
      </c:barChart>
      <c:catAx>
        <c:axId val="683475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683478016"/>
        <c:crosses val="autoZero"/>
        <c:auto val="1"/>
        <c:lblAlgn val="ctr"/>
        <c:lblOffset val="100"/>
        <c:noMultiLvlLbl val="1"/>
      </c:catAx>
      <c:valAx>
        <c:axId val="683478016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683475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200">
              <a:latin typeface="Arial Nova" pitchFamily="34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F513C-0920-4555-84A8-FD511A93BB2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1A2A9-B83A-4EDA-BFE2-5490DC4A02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9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926080"/>
            <a:ext cx="8229600" cy="8229600"/>
          </a:xfrm>
          <a:prstGeom prst="ellipse">
            <a:avLst/>
          </a:prstGeom>
          <a:solidFill>
            <a:srgbClr val="4B3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3840480"/>
            <a:ext cx="6400800" cy="6400800"/>
          </a:xfrm>
          <a:prstGeom prst="ellipse">
            <a:avLst/>
          </a:prstGeom>
          <a:solidFill>
            <a:srgbClr val="121130">
              <a:alpha val="7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37160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5856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 smtClean="0">
                <a:solidFill>
                  <a:srgbClr val="9C93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PROJECT  SUBMISSION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FraudShield AI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1051560" y="2820049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Machine Learning for Real-Time Fraud Detection </a:t>
            </a:r>
            <a:r>
              <a:rPr lang="en-US" sz="2800" dirty="0" smtClean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8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420241" y="4661494"/>
            <a:ext cx="5806440" cy="502920"/>
          </a:xfrm>
          <a:prstGeom prst="roundRect">
            <a:avLst>
              <a:gd name="adj" fmla="val 50909"/>
            </a:avLst>
          </a:prstGeom>
          <a:solidFill>
            <a:srgbClr val="6C5CE7">
              <a:alpha val="8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4656630"/>
            <a:ext cx="5989320" cy="4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2400" b="1" dirty="0" smtClean="0">
                <a:solidFill>
                  <a:schemeClr val="bg1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Akimu Odunola</a:t>
            </a:r>
            <a:endParaRPr lang="en-US" sz="2400" dirty="0">
              <a:solidFill>
                <a:schemeClr val="bg1"/>
              </a:solidFill>
              <a:latin typeface="Arial Nova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AI  |  1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2821021" y="51772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40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64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 is rare but costly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17320" y="2011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It carries a disproportionately high financial and reputational impact even at low frequency.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32365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81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Failed attempts are ignored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417320" y="34290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Blocked or unsuccessful fraud attempts are typically discarded, losing valuable early-warning signal.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46538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498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Rule-based systems fall short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417320" y="4846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Static rules achieve high precision but low recall </a:t>
            </a:r>
            <a:r>
              <a:rPr lang="en-US" sz="2000" dirty="0" smtClean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many genuine fraud cases slip through undetected.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92440" y="17373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214884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2440" y="3063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~0.13%</a:t>
            </a:r>
            <a:endParaRPr lang="en-US" sz="4000" dirty="0">
              <a:latin typeface="Arial Nova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412480" y="38404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of transactions in the source dataset are fraudulent </a:t>
            </a:r>
            <a:r>
              <a:rPr lang="en-US" sz="1600" dirty="0" smtClean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yet they drive the majority of financial loss and risk exposure.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2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Uncover specific fraud patterns hidden across millions of transactions.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Behavioral Feature Analysis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Show why behavioral signals matter more than simple financial loss metrics.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3296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4400" y="4846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Develop a machine learning model that reliably detects fraudulent transactions.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ECEAFB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0624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329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Explainable, Actionable Output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492240" y="4846320"/>
            <a:ext cx="4762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Deliver plain-language reasoning and recommendations via an integrated LLM layer.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3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4B3FB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F8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UPGRADE</a:t>
            </a:r>
            <a:endParaRPr lang="en-US" sz="13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12024" y="5440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Introducing FraudShield AI</a:t>
            </a:r>
            <a:endParaRPr lang="en-US" sz="3200" dirty="0">
              <a:latin typeface="Arial Nova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3815" y="1459149"/>
            <a:ext cx="11731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From a binary prediction to a complete decision-support system for compliance teams.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32159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3100" y="265176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66" y="2836926"/>
            <a:ext cx="452628" cy="4526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 trained CatBoost model scores every transaction for fraud risk in real time.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32159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83580" y="265176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46" y="2836926"/>
            <a:ext cx="452628" cy="452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0060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 Groq-powered LLM turns the prediction into </a:t>
            </a:r>
            <a:r>
              <a:rPr lang="en-US" dirty="0" smtClean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plain language </a:t>
            </a: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reasoning and evidence.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32104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32159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24060" y="2651760"/>
            <a:ext cx="822960" cy="8229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226" y="283692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64108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High-risk transactions automatically trigger a detailed email report for investigation.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AC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4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13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How FraudShield AI Works</a:t>
            </a:r>
            <a:endParaRPr lang="en-US" sz="32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69" y="206082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1. Transaction Input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9031" y="2926080"/>
            <a:ext cx="33268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Amount, type, sender/receiver accounts, time, and balances.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1947672"/>
            <a:ext cx="502920" cy="50292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749" y="206082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36592" y="2926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Computes post-transaction balances and prepares model features.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1947672"/>
            <a:ext cx="502920" cy="50292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229" y="206082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3. ML Prediction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3337" y="2926080"/>
            <a:ext cx="32976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CatBoost model classifies the transaction as fraud or legitimate.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416552"/>
            <a:ext cx="502920" cy="50292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269" y="452970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4. Risk Scoring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9031" y="5394960"/>
            <a:ext cx="33268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 probability converted into Low, Medium, or High risk.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8056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4416552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749" y="452970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3659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5. AI Explanation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640094" y="5394960"/>
            <a:ext cx="33151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Groq LLM generates a </a:t>
            </a:r>
            <a:r>
              <a:rPr lang="en-US" dirty="0" smtClean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plain language </a:t>
            </a: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reason and recommendation.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77072" y="4416552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0229" y="452970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6. Automated Alert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577071" y="5394960"/>
            <a:ext cx="31739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High-risk transactions trigger an emailed report instantly.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5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6.3M</a:t>
            </a:r>
            <a:endParaRPr lang="en-US" sz="4800" dirty="0">
              <a:latin typeface="Arial Nova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ECEAFB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>
              <a:latin typeface="Arial Nova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2331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Key Features Tracked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691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>
              <a:latin typeface="Arial Nova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38160" y="2331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Transaction Types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Temporal Tracking: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Time indicator captured in 1-hour increments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867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Amount Transferred: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monetary value of each transaction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30682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Account Identities: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Sender and receiver account references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74573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Balance Dynamics: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Pre- and post-transaction balances for both accounts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51846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Ground Truth (isFraud):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actual fraud indicator per transaction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Existing Logic (isFlaggedFraud):  </a:t>
            </a: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Flags raised by the legacy rule-based system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6</a:t>
            </a:r>
            <a:endParaRPr lang="en-US" sz="1400" b="1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Key Tools &amp; Tech Stack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7170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2951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VS Code </a:t>
            </a:r>
            <a:r>
              <a:rPr lang="en-US" sz="20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80560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217170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2951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7373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Pandas </a:t>
            </a:r>
            <a:r>
              <a:rPr lang="en-US" sz="20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321040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49640" y="217170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22951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39" y="1737360"/>
            <a:ext cx="251557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CatBoost</a:t>
            </a: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and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390906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03250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4747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en-US" sz="20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000" b="1" dirty="0" err="1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48056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3909060"/>
            <a:ext cx="548640" cy="54864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403250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4747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8321040" y="34747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6C5CE7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549640" y="39090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3084" y="403250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35440" y="34747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Groq LLM API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7</a:t>
            </a:r>
            <a:endParaRPr lang="en-US" sz="20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EXPLORATORY </a:t>
            </a:r>
            <a:r>
              <a:rPr lang="en-US" sz="2000" b="1" kern="0" spc="200" dirty="0" smtClean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DATA ANLAYSIS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Where Fraud Happens Most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177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 is concentrated in TRANSFER and CASH_OUT transaction types.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Other transaction types show very low fraud risk by comparison.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64261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2000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This confirms fraud is strongly associated with “money-out” flows.</a:t>
            </a:r>
            <a:endParaRPr lang="en-US" sz="2000" dirty="0">
              <a:latin typeface="Arial Nova" pitchFamily="34" charset="0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988745251"/>
              </p:ext>
            </p:extLst>
          </p:nvPr>
        </p:nvGraphicFramePr>
        <p:xfrm>
          <a:off x="502920" y="3429000"/>
          <a:ext cx="5394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50876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9202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“Money-Out” Signature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83679" y="3337560"/>
            <a:ext cx="474904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TRANSFER moves funds between accounts; </a:t>
            </a:r>
            <a:endParaRPr lang="en-US" dirty="0" smtClean="0">
              <a:solidFill>
                <a:srgbClr val="D8D5F5"/>
              </a:solidFill>
              <a:latin typeface="Arial Nova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CASH_OUT </a:t>
            </a: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converts them to withdrawable form. </a:t>
            </a:r>
            <a:endParaRPr lang="en-US" dirty="0">
              <a:solidFill>
                <a:srgbClr val="D8D5F5"/>
              </a:solidFill>
              <a:latin typeface="Arial Nova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 smtClean="0">
              <a:solidFill>
                <a:srgbClr val="D8D5F5"/>
              </a:solidFill>
              <a:latin typeface="Arial Nova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 smtClean="0">
              <a:solidFill>
                <a:srgbClr val="D8D5F5"/>
              </a:solidFill>
              <a:latin typeface="Arial Nova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Together </a:t>
            </a:r>
            <a:r>
              <a:rPr lang="en-US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they represent the fastest route for a fraudster to move value out of the system before detection.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8</a:t>
            </a:r>
            <a:endParaRPr lang="en-US" sz="20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EXPLORATORY FINDINGS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Fraudster Behavior</a:t>
            </a:r>
            <a:endParaRPr lang="en-US" sz="40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79" y="2971800"/>
            <a:ext cx="33968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Money Out Flow</a:t>
            </a:r>
            <a:r>
              <a:rPr lang="en-US" sz="2000" b="1" dirty="0" smtClean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7940" y="3566160"/>
            <a:ext cx="30525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E6FA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Fraudsters strongly favor TRANSFER and CASH_OUT transactions over other types.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4B3FBF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502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612" y="22219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Full Balance Drain</a:t>
            </a:r>
            <a:endParaRPr lang="en-US" sz="2200" dirty="0">
              <a:latin typeface="Arial Nova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81728" y="3566160"/>
            <a:ext cx="30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E6FA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Fraudulent attempts typically empty the entire origin account balance in one move.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6C5CE7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1550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092" y="22219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Mule Accounts</a:t>
            </a:r>
            <a:endParaRPr lang="en-US" sz="2200" dirty="0">
              <a:latin typeface="Arial Nova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3336" y="3566160"/>
            <a:ext cx="3068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8E6FA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Funds are routed to empty, dormant, or newly created destination accounts.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9</a:t>
            </a:r>
            <a:endParaRPr lang="en-US" sz="20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Why Machine Learning?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9516" y="1737359"/>
            <a:ext cx="2011680" cy="1842419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2011680"/>
            <a:ext cx="594360" cy="59436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07" y="21454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Complex Pattern Detection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894076" y="1737360"/>
            <a:ext cx="2011680" cy="184241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02736" y="2011680"/>
            <a:ext cx="594360" cy="59436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467" y="21454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94076" y="2743200"/>
            <a:ext cx="17362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Higher Accuracy </a:t>
            </a:r>
            <a:r>
              <a:rPr lang="en-US" sz="1600" b="1" dirty="0" err="1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b="1" dirty="0" smtClean="0">
              <a:solidFill>
                <a:srgbClr val="22213F"/>
              </a:solidFill>
              <a:latin typeface="Arial Nova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088636" y="1737360"/>
            <a:ext cx="2011680" cy="184241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97296" y="2011680"/>
            <a:ext cx="594360" cy="59436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027" y="2145411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98364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283196" y="1737360"/>
            <a:ext cx="2011680" cy="184241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91856" y="2011680"/>
            <a:ext cx="594360" cy="59436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587" y="2145411"/>
            <a:ext cx="326898" cy="3268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2924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Early Detection &amp; Prevention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477756" y="1737360"/>
            <a:ext cx="2011680" cy="184241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186416" y="2011680"/>
            <a:ext cx="594360" cy="594360"/>
          </a:xfrm>
          <a:prstGeom prst="ellipse">
            <a:avLst/>
          </a:prstGeom>
          <a:solidFill>
            <a:srgbClr val="1B1A3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147" y="214541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87484" y="27432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Automated Scalability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40080" y="3977640"/>
            <a:ext cx="10908792" cy="1554480"/>
          </a:xfrm>
          <a:prstGeom prst="roundRect">
            <a:avLst>
              <a:gd name="adj" fmla="val 7059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1188720" y="3977640"/>
            <a:ext cx="9829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Machine learning models the interaction between transaction type, balance changes, and attempted amounts </a:t>
            </a:r>
            <a:r>
              <a:rPr lang="en-US" sz="2400" b="1" i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i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patterns that static rules cannot capture.</a:t>
            </a:r>
            <a:endParaRPr lang="en-US" sz="2400" b="1" dirty="0">
              <a:latin typeface="Arial Nova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10</a:t>
            </a:r>
            <a:endParaRPr lang="en-US" sz="16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 smtClean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From Prediction to Insight</a:t>
            </a:r>
            <a:endParaRPr lang="en-US" sz="40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same prediction, before and after the FraudShield AI explanation layer.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E9E9E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TRADITIONAL OUTPUT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502920" cy="50292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7" y="27191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606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475A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Prediction: FRAUD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No explanation. No context. No next step </a:t>
            </a:r>
            <a:r>
              <a:rPr lang="en-US" sz="2000" i="1" dirty="0" smtClean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analyst must investigate from scratch.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26480" y="18745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9C93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OUTPUT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F0506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677" y="271919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606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High Risk  ·  92% Probability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46520" y="3337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Full balance drain from the origin account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4652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Destination account is newly created and dormant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4465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Transaction type and amount match a known fraud pattern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446520" y="50749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6C5CE7">
              <a:alpha val="8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50749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Recommended Action:  Escalate to compliance for manual review before settlement.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11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UPGRADE  </a:t>
            </a:r>
            <a:r>
              <a:rPr lang="en-US" sz="1600" b="1" kern="0" spc="200" dirty="0" smtClean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Automated High-Risk Alerts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331720"/>
            <a:ext cx="914400" cy="9144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25374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Instant Notification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371600" y="40690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0506E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4069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Triggered on HIGH RISK</a:t>
            </a:r>
            <a:endParaRPr lang="en-US" sz="1200" dirty="0">
              <a:latin typeface="Arial Nova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47548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No manual monitoring required </a:t>
            </a:r>
            <a:r>
              <a:rPr lang="en-US" sz="1600" dirty="0" smtClean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D8D5F5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compliance teams are notified the moment a transaction crosses the risk threshold.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920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Every alert email includes: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92040" y="2331720"/>
            <a:ext cx="475488" cy="475488"/>
          </a:xfrm>
          <a:prstGeom prst="ellipse">
            <a:avLst/>
          </a:prstGeom>
          <a:solidFill>
            <a:srgbClr val="ECEAF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025" y="2438705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3317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 prediction and calculated risk score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892040" y="2990088"/>
            <a:ext cx="475488" cy="475488"/>
          </a:xfrm>
          <a:prstGeom prst="ellipse">
            <a:avLst/>
          </a:prstGeom>
          <a:solidFill>
            <a:srgbClr val="ECEA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025" y="309707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9900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Transaction summary: amount, type, and time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92040" y="3648456"/>
            <a:ext cx="475488" cy="475488"/>
          </a:xfrm>
          <a:prstGeom prst="ellipse">
            <a:avLst/>
          </a:prstGeom>
          <a:solidFill>
            <a:srgbClr val="ECEAF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025" y="375544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364845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Sender and receiver account information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892040" y="4306824"/>
            <a:ext cx="475488" cy="475488"/>
          </a:xfrm>
          <a:prstGeom prst="ellipse">
            <a:avLst/>
          </a:prstGeom>
          <a:solidFill>
            <a:srgbClr val="ECEAF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025" y="4413809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77840" y="430682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Account balances before and after the transaction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892040" y="4965192"/>
            <a:ext cx="475488" cy="475488"/>
          </a:xfrm>
          <a:prstGeom prst="ellipse">
            <a:avLst/>
          </a:prstGeom>
          <a:solidFill>
            <a:srgbClr val="ECEAF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9025" y="5072177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77840" y="49651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full </a:t>
            </a:r>
            <a:r>
              <a:rPr lang="en-US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explanation and </a:t>
            </a:r>
            <a:r>
              <a:rPr lang="en-US" dirty="0" smtClean="0">
                <a:solidFill>
                  <a:srgbClr val="22213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recommendation by the LLM 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12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UPGRADE  </a:t>
            </a:r>
            <a:r>
              <a:rPr lang="en-US" sz="1600" b="1" kern="0" spc="200" dirty="0" smtClean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From Probability to Risk Level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The model's fraud probability is converted into a risk band so any user can act on it instantly.</a:t>
            </a:r>
            <a:endParaRPr lang="en-US" b="1" i="1" dirty="0">
              <a:latin typeface="Arial Nova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2286000"/>
            <a:ext cx="685800" cy="685800"/>
          </a:xfrm>
          <a:prstGeom prst="ellipse">
            <a:avLst/>
          </a:prstGeom>
          <a:solidFill>
            <a:srgbClr val="1FBF8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705" y="244030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BF8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0 – 30%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Transaction proceeds normally. Logged for routine records only.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48056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965960"/>
            <a:ext cx="352044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897880" y="2286000"/>
            <a:ext cx="685800" cy="685800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185" y="244030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Medium Risk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48056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A524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30 – 70%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80060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Flagged for review. Included in periodic compliance reporting.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321040" y="1965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965960"/>
            <a:ext cx="352044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9738360" y="2286000"/>
            <a:ext cx="685800" cy="685800"/>
          </a:xfrm>
          <a:prstGeom prst="ellipse">
            <a:avLst/>
          </a:prstGeom>
          <a:solidFill>
            <a:srgbClr val="F0506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2665" y="2440305"/>
            <a:ext cx="377190" cy="3771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2104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321040" y="35661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06E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70 – 100%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641080" y="4069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Automated email alert sent immediately for investigation.</a:t>
            </a:r>
            <a:endParaRPr lang="en-US" sz="2400" dirty="0">
              <a:latin typeface="Arial Nova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13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C5CE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543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13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600" dirty="0">
              <a:latin typeface="Arial Nova" pitchFamily="34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29887381"/>
              </p:ext>
            </p:extLst>
          </p:nvPr>
        </p:nvGraphicFramePr>
        <p:xfrm>
          <a:off x="502919" y="1554479"/>
          <a:ext cx="6607999" cy="4603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828800"/>
            <a:ext cx="4251960" cy="3017520"/>
          </a:xfrm>
          <a:prstGeom prst="roundRect">
            <a:avLst>
              <a:gd name="adj" fmla="val 3636"/>
            </a:avLst>
          </a:prstGeom>
          <a:solidFill>
            <a:srgbClr val="1B1A3D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39" y="1916348"/>
            <a:ext cx="3697483" cy="174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Because fraud is rare, accuracy alone is misleading</a:t>
            </a:r>
            <a:r>
              <a:rPr lang="en-US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F1-score matters far more </a:t>
            </a:r>
            <a:r>
              <a:rPr lang="en-US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especially when the cost of missing real fraud is high.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35240" y="379476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6C5CE7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37947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CatBoost</a:t>
            </a:r>
            <a:r>
              <a:rPr lang="en-US" sz="16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was selected </a:t>
            </a:r>
            <a:r>
              <a:rPr lang="en-US" sz="16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for deployment </a:t>
            </a:r>
            <a:r>
              <a:rPr lang="en-US" sz="1600" b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with the </a:t>
            </a:r>
            <a:r>
              <a:rPr lang="en-US" sz="1600" b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best F1 </a:t>
            </a:r>
            <a:r>
              <a:rPr lang="en-US" sz="1600" b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B8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14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9C93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Limitations </a:t>
            </a:r>
            <a:r>
              <a:rPr lang="en-US" sz="3600" b="1" dirty="0" smtClean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and </a:t>
            </a:r>
            <a:r>
              <a:rPr lang="en-US" sz="36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Future Direction</a:t>
            </a:r>
            <a:endParaRPr lang="en-US" sz="36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F0506E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807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FBF8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dirty="0">
              <a:latin typeface="Arial Nova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12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Model Drift Risk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Performance may degrade as fraud patterns evolve over time.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0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No Temporal Modeling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Date based </a:t>
            </a: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features could not be fully captured during modeling.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47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LLM Latency </a:t>
            </a:r>
            <a:r>
              <a:rPr lang="en-US" sz="2000" b="1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54132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Real-time explanation generation adds a small response delay and API cost per call.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21031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212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Backend Integration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257860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A continuous data collection pipeline to support ongoing analysis.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0760" y="35204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630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399592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Continuous model tracking, retraining, and improvement over time.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80760" y="49377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6244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5047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Expanded Explanation Coverage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54132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5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Multi-language and voice-ready explanations for wider teams.</a:t>
            </a:r>
            <a:endParaRPr lang="en-US" sz="1600" dirty="0">
              <a:latin typeface="Arial Nova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AC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</a:t>
            </a:r>
            <a:r>
              <a:rPr lang="en-US" sz="900" dirty="0" smtClean="0">
                <a:solidFill>
                  <a:srgbClr val="9C9AC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7315200" cy="7315200"/>
          </a:xfrm>
          <a:prstGeom prst="ellipse">
            <a:avLst/>
          </a:prstGeom>
          <a:solidFill>
            <a:srgbClr val="4B3FB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93F0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>
              <a:latin typeface="Arial Nov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>
              <a:latin typeface="Arial Nova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8150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 detection should not wait for money to be stolen.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277520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51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Learning fraudster behavior </a:t>
            </a:r>
            <a:r>
              <a:rPr lang="en-US" sz="2000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including failed attempts </a:t>
            </a:r>
            <a:r>
              <a:rPr lang="en-US" sz="2000" dirty="0" smtClean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is more effective than tracking loss alone.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73532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118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Pairing machine learning with explainable AI gives compliance teams a prediction and a reason to trust it.</a:t>
            </a:r>
            <a:endParaRPr lang="en-US" sz="2000" dirty="0">
              <a:latin typeface="Arial Nova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Nov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>
              <a:latin typeface="Arial Nova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26287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AC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FraudShield AI  |  </a:t>
            </a:r>
            <a:r>
              <a:rPr lang="en-US" sz="900" dirty="0" smtClean="0">
                <a:solidFill>
                  <a:srgbClr val="9C9AC7"/>
                </a:solidFill>
                <a:latin typeface="Arial Nova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>
              <a:latin typeface="Arial Nov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1061</Words>
  <Application>Microsoft Office PowerPoint</Application>
  <PresentationFormat>Custom</PresentationFormat>
  <Paragraphs>192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FraudShield AI</dc:title>
  <dc:subject>PptxGenJS Presentation</dc:subject>
  <dc:creator>Akimu Odunola</dc:creator>
  <cp:lastModifiedBy>LENOVO</cp:lastModifiedBy>
  <cp:revision>14</cp:revision>
  <dcterms:created xsi:type="dcterms:W3CDTF">2026-07-04T10:57:45Z</dcterms:created>
  <dcterms:modified xsi:type="dcterms:W3CDTF">2026-07-05T06:22:59Z</dcterms:modified>
</cp:coreProperties>
</file>